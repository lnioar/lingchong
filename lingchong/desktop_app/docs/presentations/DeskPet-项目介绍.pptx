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资料依据（项目相对路径）：README.md; docs/product-features.md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资料依据（项目相对路径）：README.md; docs/product-features.md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资料依据（项目相对路径）：docs/product-features.md; docs/design/desktop-companion.md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资料依据（项目相对路径）：crates/deskpet-app/src/ipc.rs; docs/architecture.md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资料依据（项目相对路径）：docs/architecture.md; crates/deskpet-agent/src/scoring.rs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资料依据（项目相对路径）：README.md; docs/product-features.md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资料依据（项目相对路径）：docs/project-structure.md; docs/architecture.md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资料依据（项目相对路径）：docs/windows-edge-integration-plan.md; crates/deskpet-app/src/windows_speech.rs; crates/deskpet-tts/src/lib.rs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资料依据（项目相对路径）：docs/design/desktop-companion.md; crates/deskpet-app/frontend/mobile.css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资料依据（项目相对路径）：docs/design/deskpet-physical-concept.png; docs/design/desktop-companion.md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资料依据（项目相对路径）：scripts/package-windows-portable.ps1; docs/windows-guide.md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资料依据（项目相对路径）：docs/roadmap.md; docs/windows-edge-integration-plan.md; 本次会话 Release 构建及用户反馈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资料依据（项目相对路径）：README.md; docs/product-features.md</a:t>
            </a:r>
          </a:p>
          <a:p>
            <a:r>
              <a:t>内容以 2026-10-24 项目源码与本次会话已交付功能为基线。示意图不代表实机截图。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A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B8CFCA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B8CFCA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7772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DeskPet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把信息变成陪伴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114800"/>
            <a:ext cx="9144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300" b="0">
                <a:solidFill>
                  <a:srgbClr val="B8CFCA"/>
                </a:solidFill>
                <a:latin typeface="Microsoft YaHei"/>
              </a:defRPr>
            </a:pPr>
            <a:r>
              <a:t>一个会根据兴趣分享新鲜事的桌面宠物</a:t>
            </a:r>
          </a:p>
          <a:p>
            <a:pPr>
              <a:lnSpc>
                <a:spcPct val="115000"/>
              </a:lnSpc>
              <a:defRPr sz="2300" b="0">
                <a:solidFill>
                  <a:srgbClr val="B8CFCA"/>
                </a:solidFill>
                <a:latin typeface="Microsoft YaHei"/>
              </a:defRPr>
            </a:pPr>
            <a:r>
              <a:t>Windows 桌宠 × Android 屏幕 × 实体陪伴构想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943600"/>
            <a:ext cx="3840480" cy="585216"/>
          </a:xfrm>
          <a:prstGeom prst="roundRect">
            <a:avLst>
              <a:gd name="adj" fmla="val 12000"/>
            </a:avLst>
          </a:prstGeom>
          <a:solidFill>
            <a:srgbClr val="1F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053328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主动分享  /  个性表达  /  轻量互动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20" y="2103120"/>
            <a:ext cx="3246120" cy="3931920"/>
          </a:xfrm>
          <a:prstGeom prst="roundRect">
            <a:avLst>
              <a:gd name="adj" fmla="val 12000"/>
            </a:avLst>
          </a:prstGeom>
          <a:solidFill>
            <a:srgbClr val="21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appy.png"/>
          <p:cNvPicPr>
            <a:picLocks noChangeAspect="1"/>
          </p:cNvPicPr>
          <p:nvPr/>
        </p:nvPicPr>
        <p:blipFill>
          <a:blip r:embed="rId3"/>
          <a:srcRect r="87500"/>
          <a:stretch>
            <a:fillRect/>
          </a:stretch>
        </p:blipFill>
        <p:spPr>
          <a:xfrm>
            <a:off x="10561320" y="2697480"/>
            <a:ext cx="2743200" cy="274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35640" y="59161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B8CFCA"/>
                </a:solidFill>
                <a:latin typeface="Microsoft YaHei"/>
              </a:defRPr>
            </a:pPr>
            <a:r>
              <a:t>让桌面多一点回应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01  从“寻找信息”到“收到关心”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产品定位：以兴趣筛选内容，以宠物口吻表达，以反馈调整偏好。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429768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56432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信息入口太分散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38404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多平台热点集中采集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减少反复打开信息流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保留来源与原文入口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2743200"/>
            <a:ext cx="429768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926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456432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内容缺少个人关联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114800"/>
            <a:ext cx="38404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结合兴趣标签和画像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参考热度与新鲜度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用反馈逐步调整偏好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2743200"/>
            <a:ext cx="429768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12680" y="2926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3456432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互动需要一点温度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4114800"/>
            <a:ext cx="38404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自定义名称、性格与背景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通过动画和气泡回应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Windows 支持语音朗读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647688"/>
            <a:ext cx="1325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400" b="1">
                <a:solidFill>
                  <a:srgbClr val="1F7771"/>
                </a:solidFill>
                <a:latin typeface="Microsoft YaHei"/>
              </a:defRPr>
            </a:pPr>
            <a:r>
              <a:t>核心体验：双击叫它过来，也允许它在合适的时候主动分享。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02  同一套核心，两种陪伴形态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Windows 已提供桌宠界面；Android 面向实体桌宠的头部屏幕。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649224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60920" y="2697480"/>
            <a:ext cx="672084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163A3B"/>
                </a:solidFill>
                <a:latin typeface="Microsoft YaHei"/>
              </a:defRPr>
            </a:pPr>
            <a:r>
              <a:t>Windows｜桌面上的伙伴</a:t>
            </a:r>
          </a:p>
        </p:txBody>
      </p:sp>
      <p:pic>
        <p:nvPicPr>
          <p:cNvPr id="11" name="Picture 10" descr="idle.png"/>
          <p:cNvPicPr>
            <a:picLocks noChangeAspect="1"/>
          </p:cNvPicPr>
          <p:nvPr/>
        </p:nvPicPr>
        <p:blipFill>
          <a:blip r:embed="rId3"/>
          <a:srcRect r="87500"/>
          <a:stretch>
            <a:fillRect/>
          </a:stretch>
        </p:blipFill>
        <p:spPr>
          <a:xfrm>
            <a:off x="868680" y="3657600"/>
            <a:ext cx="1965960" cy="19659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154680" y="3730752"/>
            <a:ext cx="3337560" cy="1097280"/>
          </a:xfrm>
          <a:prstGeom prst="roundRect">
            <a:avLst>
              <a:gd name="adj" fmla="val 12000"/>
            </a:avLst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6704" y="388620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163A3B"/>
                </a:solidFill>
                <a:latin typeface="Microsoft YaHei"/>
              </a:defRPr>
            </a:pPr>
            <a:r>
              <a:t>双击获取新鲜事</a:t>
            </a:r>
          </a:p>
          <a:p>
            <a:pPr>
              <a:lnSpc>
                <a:spcPct val="115000"/>
              </a:lnSpc>
              <a:defRPr sz="1800" b="0">
                <a:solidFill>
                  <a:srgbClr val="163A3B"/>
                </a:solidFill>
                <a:latin typeface="Microsoft YaHei"/>
              </a:defRPr>
            </a:pPr>
            <a:r>
              <a:t>气泡展示 + 语音朗读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24728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900" b="0">
                <a:solidFill>
                  <a:srgbClr val="607474"/>
                </a:solidFill>
                <a:latin typeface="Microsoft YaHei"/>
              </a:defRPr>
            </a:pPr>
            <a:r>
              <a:t>透明窗口 · 可拖动 · 托盘设置</a:t>
            </a:r>
          </a:p>
          <a:p>
            <a:pPr>
              <a:lnSpc>
                <a:spcPct val="115000"/>
              </a:lnSpc>
              <a:defRPr sz="1900" b="0">
                <a:solidFill>
                  <a:srgbClr val="607474"/>
                </a:solidFill>
                <a:latin typeface="Microsoft YaHei"/>
              </a:defRPr>
            </a:pPr>
            <a:r>
              <a:t>阅读时暂停关闭 · 反馈学习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92608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163A3B"/>
                </a:solidFill>
                <a:latin typeface="Microsoft YaHei"/>
              </a:defRPr>
            </a:pPr>
            <a:r>
              <a:t>Android｜头部屏幕界面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703320"/>
            <a:ext cx="5852160" cy="1737360"/>
          </a:xfrm>
          <a:prstGeom prst="roundRect">
            <a:avLst>
              <a:gd name="adj" fmla="val 12000"/>
            </a:avLst>
          </a:prstGeom>
          <a:solidFill>
            <a:srgbClr val="16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urious.png"/>
          <p:cNvPicPr>
            <a:picLocks noChangeAspect="1"/>
          </p:cNvPicPr>
          <p:nvPr/>
        </p:nvPicPr>
        <p:blipFill>
          <a:blip r:embed="rId4"/>
          <a:srcRect r="87500"/>
          <a:stretch>
            <a:fillRect/>
          </a:stretch>
        </p:blipFill>
        <p:spPr>
          <a:xfrm>
            <a:off x="7955279" y="3849624"/>
            <a:ext cx="1508760" cy="15087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0058400" y="3904487"/>
            <a:ext cx="3246120" cy="960120"/>
          </a:xfrm>
          <a:prstGeom prst="roundRect">
            <a:avLst>
              <a:gd name="adj" fmla="val 12000"/>
            </a:avLst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0" y="4041648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163A3B"/>
                </a:solidFill>
                <a:latin typeface="Microsoft YaHei"/>
              </a:defRPr>
            </a:pPr>
            <a:r>
              <a:t>右上角消息气泡</a:t>
            </a:r>
          </a:p>
          <a:p>
            <a:pPr>
              <a:lnSpc>
                <a:spcPct val="115000"/>
              </a:lnSpc>
              <a:defRPr sz="1700" b="0">
                <a:solidFill>
                  <a:srgbClr val="163A3B"/>
                </a:solidFill>
                <a:latin typeface="Microsoft YaHei"/>
              </a:defRPr>
            </a:pPr>
            <a:r>
              <a:t>正文可独立滚动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824728"/>
            <a:ext cx="5852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横屏沉浸 · 前台亮屏 · 双击触发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Android 语音与后台常驻仍待实现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03  一次双击，完成一条信息闭环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示例流程：请求 → 刷新 → 选择 → 表达 → 反馈。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71800"/>
            <a:ext cx="251460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85032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双击宠物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20574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显示刷新状态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防止重复触发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087368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E87E58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0984" y="2971800"/>
            <a:ext cx="251460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31546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3685032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联网采集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4343400"/>
            <a:ext cx="20574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刷新启用来源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使用本次返回结果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4087368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E87E58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971800"/>
            <a:ext cx="251460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31546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3685032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筛选并表达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4343400"/>
            <a:ext cx="20574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排除已播报内容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模型或模板生成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4087368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E87E58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5672" y="2971800"/>
            <a:ext cx="251460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4272" y="31546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4272" y="3685032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展示与朗读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4343400"/>
            <a:ext cx="20574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先显示消息气泡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再启动 Windows 语音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4087368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E87E58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558016" y="2971800"/>
            <a:ext cx="251460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86616" y="31546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86616" y="3685032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反馈与学习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86616" y="4343400"/>
            <a:ext cx="20574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喜欢 / 不感兴趣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更新兴趣权重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6400800"/>
            <a:ext cx="13533120" cy="859536"/>
          </a:xfrm>
          <a:prstGeom prst="roundRect">
            <a:avLst>
              <a:gd name="adj" fmla="val 12000"/>
            </a:avLst>
          </a:prstGeom>
          <a:solidFill>
            <a:srgbClr val="16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6574536"/>
            <a:ext cx="13030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100" b="0">
                <a:solidFill>
                  <a:srgbClr val="FFFFFF"/>
                </a:solidFill>
                <a:latin typeface="Microsoft YaHei"/>
              </a:defRPr>
            </a:pPr>
            <a:r>
              <a:t>没有新热点时给出自然回应；刷新失败不回放旧新闻，也不编造新闻。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04  内容如何变得更贴近用户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以可解释的规则组合兴趣、热度、新鲜度与反馈。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850392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8094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163A3B"/>
                </a:solidFill>
                <a:latin typeface="Microsoft YaHei"/>
              </a:defRPr>
            </a:pPr>
            <a:r>
              <a:t>内容处理链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76472"/>
            <a:ext cx="7772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300" b="0">
                <a:solidFill>
                  <a:srgbClr val="163A3B"/>
                </a:solidFill>
                <a:latin typeface="Microsoft YaHei"/>
              </a:defRPr>
            </a:pPr>
            <a:r>
              <a:t>知乎 / B站 / 微博 / RSSHub</a:t>
            </a:r>
          </a:p>
          <a:p>
            <a:pPr>
              <a:lnSpc>
                <a:spcPct val="115000"/>
              </a:lnSpc>
              <a:defRPr sz="2300" b="0">
                <a:solidFill>
                  <a:srgbClr val="163A3B"/>
                </a:solidFill>
                <a:latin typeface="Microsoft YaHei"/>
              </a:defRPr>
            </a:pPr>
            <a:r>
              <a:t>→ 标签处理、可选向量与去重入库</a:t>
            </a:r>
          </a:p>
          <a:p>
            <a:pPr>
              <a:lnSpc>
                <a:spcPct val="115000"/>
              </a:lnSpc>
              <a:defRPr sz="2300" b="0">
                <a:solidFill>
                  <a:srgbClr val="163A3B"/>
                </a:solidFill>
                <a:latin typeface="Microsoft YaHei"/>
              </a:defRPr>
            </a:pPr>
            <a:r>
              <a:t>→ 兴趣匹配、热度与新鲜度综合评分</a:t>
            </a:r>
          </a:p>
          <a:p>
            <a:pPr>
              <a:lnSpc>
                <a:spcPct val="115000"/>
              </a:lnSpc>
              <a:defRPr sz="2300" b="0">
                <a:solidFill>
                  <a:srgbClr val="163A3B"/>
                </a:solidFill>
                <a:latin typeface="Microsoft YaHei"/>
              </a:defRPr>
            </a:pPr>
            <a:r>
              <a:t>→ 宠物人设 + 模型表达 / 无 Key 模板降级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2743200"/>
            <a:ext cx="4572000" cy="4069080"/>
          </a:xfrm>
          <a:prstGeom prst="roundRect">
            <a:avLst>
              <a:gd name="adj" fmla="val 12000"/>
            </a:avLst>
          </a:prstGeom>
          <a:solidFill>
            <a:srgbClr val="16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3044952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FFFFFF"/>
                </a:solidFill>
                <a:latin typeface="Microsoft YaHei"/>
              </a:defRPr>
            </a:pPr>
            <a:r>
              <a:t>反馈让偏好持续变化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3959352"/>
            <a:ext cx="402336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100" b="0">
                <a:solidFill>
                  <a:srgbClr val="B8CFCA"/>
                </a:solidFill>
                <a:latin typeface="Microsoft YaHei"/>
              </a:defRPr>
            </a:pPr>
            <a:r>
              <a:t>喜欢 → 调整标签兴趣</a:t>
            </a:r>
          </a:p>
          <a:p>
            <a:pPr>
              <a:lnSpc>
                <a:spcPct val="115000"/>
              </a:lnSpc>
              <a:defRPr sz="2100" b="0">
                <a:solidFill>
                  <a:srgbClr val="B8CFCA"/>
                </a:solidFill>
                <a:latin typeface="Microsoft YaHei"/>
              </a:defRPr>
            </a:pPr>
            <a:r>
              <a:t>不感兴趣 → 降低相关偏好</a:t>
            </a:r>
          </a:p>
          <a:p>
            <a:pPr>
              <a:lnSpc>
                <a:spcPct val="115000"/>
              </a:lnSpc>
              <a:defRPr sz="2100" b="0">
                <a:solidFill>
                  <a:srgbClr val="B8CFCA"/>
                </a:solidFill>
                <a:latin typeface="Microsoft YaHei"/>
              </a:defRPr>
            </a:pPr>
            <a:r>
              <a:t>定期维护 → 兴趣权重衰减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7178040"/>
            <a:ext cx="1325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600" b="0">
                <a:solidFill>
                  <a:srgbClr val="607474"/>
                </a:solidFill>
                <a:latin typeface="Microsoft YaHei"/>
              </a:defRPr>
            </a:pPr>
            <a:r>
              <a:t>当前边界：未启用真实 embedding 时不代表语义理解；跨平台同事件仍可能重复。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05  宠物不是皮肤，而是表达方式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名称、性格、表达偏好和背景进入后续回复；动画提供即时反馈。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210312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dle.png"/>
          <p:cNvPicPr>
            <a:picLocks noChangeAspect="1"/>
          </p:cNvPicPr>
          <p:nvPr/>
        </p:nvPicPr>
        <p:blipFill>
          <a:blip r:embed="rId3"/>
          <a:srcRect r="87500"/>
          <a:stretch>
            <a:fillRect/>
          </a:stretch>
        </p:blipFill>
        <p:spPr>
          <a:xfrm>
            <a:off x="822960" y="3154680"/>
            <a:ext cx="15544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8720" y="48188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100" b="1">
                <a:solidFill>
                  <a:srgbClr val="163A3B"/>
                </a:solidFill>
                <a:latin typeface="Microsoft YaHei"/>
              </a:defRPr>
            </a:pPr>
            <a:r>
              <a:t>待机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926080"/>
            <a:ext cx="210312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appy.png"/>
          <p:cNvPicPr>
            <a:picLocks noChangeAspect="1"/>
          </p:cNvPicPr>
          <p:nvPr/>
        </p:nvPicPr>
        <p:blipFill>
          <a:blip r:embed="rId4"/>
          <a:srcRect r="87500"/>
          <a:stretch>
            <a:fillRect/>
          </a:stretch>
        </p:blipFill>
        <p:spPr>
          <a:xfrm>
            <a:off x="3108960" y="3154680"/>
            <a:ext cx="1554480" cy="1554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74720" y="48188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100" b="1">
                <a:solidFill>
                  <a:srgbClr val="163A3B"/>
                </a:solidFill>
                <a:latin typeface="Microsoft YaHei"/>
              </a:defRPr>
            </a:pPr>
            <a:r>
              <a:t>开心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926080"/>
            <a:ext cx="210312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urious.png"/>
          <p:cNvPicPr>
            <a:picLocks noChangeAspect="1"/>
          </p:cNvPicPr>
          <p:nvPr/>
        </p:nvPicPr>
        <p:blipFill>
          <a:blip r:embed="rId5"/>
          <a:srcRect r="87500"/>
          <a:stretch>
            <a:fillRect/>
          </a:stretch>
        </p:blipFill>
        <p:spPr>
          <a:xfrm>
            <a:off x="5394960" y="3154680"/>
            <a:ext cx="1554480" cy="1554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60720" y="48188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100" b="1">
                <a:solidFill>
                  <a:srgbClr val="163A3B"/>
                </a:solidFill>
                <a:latin typeface="Microsoft YaHei"/>
              </a:defRPr>
            </a:pPr>
            <a:r>
              <a:t>好奇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926080"/>
            <a:ext cx="210312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xcited.png"/>
          <p:cNvPicPr>
            <a:picLocks noChangeAspect="1"/>
          </p:cNvPicPr>
          <p:nvPr/>
        </p:nvPicPr>
        <p:blipFill>
          <a:blip r:embed="rId6"/>
          <a:srcRect r="87500"/>
          <a:stretch>
            <a:fillRect/>
          </a:stretch>
        </p:blipFill>
        <p:spPr>
          <a:xfrm>
            <a:off x="7680960" y="3154680"/>
            <a:ext cx="1554480" cy="1554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46720" y="48188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100" b="1">
                <a:solidFill>
                  <a:srgbClr val="163A3B"/>
                </a:solidFill>
                <a:latin typeface="Microsoft YaHei"/>
              </a:defRPr>
            </a:pPr>
            <a:r>
              <a:t>兴奋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926080"/>
            <a:ext cx="210312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leepy.png"/>
          <p:cNvPicPr>
            <a:picLocks noChangeAspect="1"/>
          </p:cNvPicPr>
          <p:nvPr/>
        </p:nvPicPr>
        <p:blipFill>
          <a:blip r:embed="rId7"/>
          <a:srcRect r="87500"/>
          <a:stretch>
            <a:fillRect/>
          </a:stretch>
        </p:blipFill>
        <p:spPr>
          <a:xfrm>
            <a:off x="9966960" y="3154680"/>
            <a:ext cx="1554480" cy="1554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332720" y="48188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100" b="1">
                <a:solidFill>
                  <a:srgbClr val="163A3B"/>
                </a:solidFill>
                <a:latin typeface="Microsoft YaHei"/>
              </a:defRPr>
            </a:pPr>
            <a:r>
              <a:t>困倦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978640" y="2926080"/>
            <a:ext cx="210312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ored.png"/>
          <p:cNvPicPr>
            <a:picLocks noChangeAspect="1"/>
          </p:cNvPicPr>
          <p:nvPr/>
        </p:nvPicPr>
        <p:blipFill>
          <a:blip r:embed="rId8"/>
          <a:srcRect r="87500"/>
          <a:stretch>
            <a:fillRect/>
          </a:stretch>
        </p:blipFill>
        <p:spPr>
          <a:xfrm>
            <a:off x="12252960" y="3154680"/>
            <a:ext cx="1554480" cy="15544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618720" y="48188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100" b="1">
                <a:solidFill>
                  <a:srgbClr val="163A3B"/>
                </a:solidFill>
                <a:latin typeface="Microsoft YaHei"/>
              </a:defRPr>
            </a:pPr>
            <a:r>
              <a:t>无聊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943600"/>
            <a:ext cx="13533120" cy="1143000"/>
          </a:xfrm>
          <a:prstGeom prst="roundRect">
            <a:avLst>
              <a:gd name="adj" fmla="val 12000"/>
            </a:avLst>
          </a:prstGeom>
          <a:solidFill>
            <a:srgbClr val="16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172200"/>
            <a:ext cx="12984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同一条真实热点，可以用不同的宠物口吻讲出来。</a:t>
            </a:r>
          </a:p>
          <a:p>
            <a:pPr>
              <a:lnSpc>
                <a:spcPct val="115000"/>
              </a:lnSpc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人设配置不会自动更换动画资源，也不会替用户选择新的音色。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06  Rust 核心复用，平台界面分层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Rust workspace + Tauri + HTML/CSS/JavaScript + SQLite。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6492240" cy="1143000"/>
          </a:xfrm>
          <a:prstGeom prst="roundRect">
            <a:avLst>
              <a:gd name="adj" fmla="val 12000"/>
            </a:avLst>
          </a:prstGeom>
          <a:solidFill>
            <a:srgbClr val="16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Windows 平台层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B8CFCA"/>
                </a:solidFill>
                <a:latin typeface="Microsoft YaHei"/>
              </a:defRPr>
            </a:pPr>
            <a:r>
              <a:t>透明桌宠 / 独立气泡 / 托盘 / 语音进程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651760"/>
            <a:ext cx="6720840" cy="1143000"/>
          </a:xfrm>
          <a:prstGeom prst="roundRect">
            <a:avLst>
              <a:gd name="adj" fmla="val 12000"/>
            </a:avLst>
          </a:prstGeom>
          <a:solidFill>
            <a:srgbClr val="16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788920"/>
            <a:ext cx="6263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Android 平台层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319272"/>
            <a:ext cx="6263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B8CFCA"/>
                </a:solidFill>
                <a:latin typeface="Microsoft YaHei"/>
              </a:defRPr>
            </a:pPr>
            <a:r>
              <a:t>Activity / 横屏沉浸 / 页面内气泡 / 前台亮屏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14800"/>
            <a:ext cx="13533120" cy="960120"/>
          </a:xfrm>
          <a:prstGeom prst="roundRect">
            <a:avLst>
              <a:gd name="adj" fmla="val 12000"/>
            </a:avLst>
          </a:prstGeom>
          <a:solidFill>
            <a:srgbClr val="1F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61688"/>
            <a:ext cx="12893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deskpet-app  ·  配置、IPC、生命周期与共享前端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94960"/>
            <a:ext cx="3163824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13832"/>
            <a:ext cx="2798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300" b="1">
                <a:solidFill>
                  <a:srgbClr val="1F7771"/>
                </a:solidFill>
                <a:latin typeface="Microsoft YaHei"/>
              </a:defRPr>
            </a:pPr>
            <a:r>
              <a:t>collector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52744"/>
            <a:ext cx="2798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多平台采集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5394960"/>
            <a:ext cx="3163824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87952" y="5513832"/>
            <a:ext cx="2798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300" b="1">
                <a:solidFill>
                  <a:srgbClr val="1F7771"/>
                </a:solidFill>
                <a:latin typeface="Microsoft YaHei"/>
              </a:defRPr>
            </a:pPr>
            <a:r>
              <a:t>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5952744"/>
            <a:ext cx="2798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筛选与表达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61504" y="5394960"/>
            <a:ext cx="3163824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4383" y="5513832"/>
            <a:ext cx="2798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300" b="1">
                <a:solidFill>
                  <a:srgbClr val="1F7771"/>
                </a:solidFill>
                <a:latin typeface="Microsoft YaHei"/>
              </a:defRPr>
            </a:pPr>
            <a:r>
              <a:t>scheduler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5952744"/>
            <a:ext cx="2798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定时与策略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17936" y="5394960"/>
            <a:ext cx="3163824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00816" y="5513832"/>
            <a:ext cx="2798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300" b="1">
                <a:solidFill>
                  <a:srgbClr val="1F7771"/>
                </a:solidFill>
                <a:latin typeface="Microsoft YaHei"/>
              </a:defRPr>
            </a:pPr>
            <a:r>
              <a:t>tts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0816" y="5952744"/>
            <a:ext cx="2798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合成与播放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6675120"/>
            <a:ext cx="135331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793992"/>
            <a:ext cx="12984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300" b="1">
                <a:solidFill>
                  <a:srgbClr val="163A3B"/>
                </a:solidFill>
                <a:latin typeface="Microsoft YaHei"/>
              </a:defRPr>
            </a:pPr>
            <a:r>
              <a:t>core 共享类型    +    storage / SQLite    +    本地配置与轮转日志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07  Windows 语音：先看到，再听到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Edge TTS 在线合成，便携 Python 执行 worker，mpv 播放本地音频。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3163824" cy="2880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2706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47872"/>
            <a:ext cx="2706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气泡确认显示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270662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正文先渲染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合成不阻塞显示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5072" y="2834640"/>
            <a:ext cx="3163824" cy="2880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2" y="3017520"/>
            <a:ext cx="2706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3547872"/>
            <a:ext cx="2706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异步合成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4206240"/>
            <a:ext cx="270662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Edge TTS 生成 MP3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失败保留文字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61504" y="2834640"/>
            <a:ext cx="3163824" cy="2880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0104" y="3017520"/>
            <a:ext cx="2706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0104" y="3547872"/>
            <a:ext cx="2706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播放并保持气泡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0104" y="4206240"/>
            <a:ext cx="270662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合成与播放期间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暂停自动关闭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17936" y="2834640"/>
            <a:ext cx="3163824" cy="2880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46536" y="3017520"/>
            <a:ext cx="2706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6536" y="3547872"/>
            <a:ext cx="2706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结束或主动停止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6536" y="4206240"/>
            <a:ext cx="270662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结束恢复阅读计时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关闭气泡即停止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309360"/>
            <a:ext cx="13533120" cy="1051560"/>
          </a:xfrm>
          <a:prstGeom prst="roundRect">
            <a:avLst>
              <a:gd name="adj" fmla="val 12000"/>
            </a:avLst>
          </a:prstGeom>
          <a:solidFill>
            <a:srgbClr val="16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501384"/>
            <a:ext cx="12984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沿用现有音色与开关，无新增试听按钮。</a:t>
            </a:r>
          </a:p>
          <a:p>
            <a:pPr>
              <a:lnSpc>
                <a:spcPct val="115000"/>
              </a:lnSpc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遇到首个 HTTP(S) 链接结束朗读；新消息替换旧任务，避免声音叠加。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08  Android：为实体桌宠的屏幕设计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界面布局示意，非实机截图。待机时宠物居中，消息出现后让出阅读区域。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8686800" cy="4114800"/>
          </a:xfrm>
          <a:prstGeom prst="roundRect">
            <a:avLst>
              <a:gd name="adj" fmla="val 12000"/>
            </a:avLst>
          </a:prstGeom>
          <a:solidFill>
            <a:srgbClr val="16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62656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B8CFCA"/>
                </a:solidFill>
                <a:latin typeface="Microsoft YaHei"/>
              </a:defRPr>
            </a:pPr>
            <a:r>
              <a:t>DeskPet                              横屏 · 沉浸 · 前台亮屏</a:t>
            </a:r>
          </a:p>
        </p:txBody>
      </p:sp>
      <p:pic>
        <p:nvPicPr>
          <p:cNvPr id="10" name="Picture 9" descr="happy.png"/>
          <p:cNvPicPr>
            <a:picLocks noChangeAspect="1"/>
          </p:cNvPicPr>
          <p:nvPr/>
        </p:nvPicPr>
        <p:blipFill>
          <a:blip r:embed="rId3"/>
          <a:srcRect r="87500"/>
          <a:stretch>
            <a:fillRect/>
          </a:stretch>
        </p:blipFill>
        <p:spPr>
          <a:xfrm>
            <a:off x="914400" y="3867912"/>
            <a:ext cx="2423160" cy="24231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840480" y="3566160"/>
            <a:ext cx="4892040" cy="2103120"/>
          </a:xfrm>
          <a:prstGeom prst="roundRect">
            <a:avLst>
              <a:gd name="adj" fmla="val 12000"/>
            </a:avLst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3794760"/>
            <a:ext cx="42976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300" b="0">
                <a:solidFill>
                  <a:srgbClr val="163A3B"/>
                </a:solidFill>
                <a:latin typeface="Microsoft YaHei"/>
              </a:defRPr>
            </a:pPr>
            <a:r>
              <a:t>今天也有一点新鲜事</a:t>
            </a:r>
          </a:p>
          <a:p>
            <a:pPr>
              <a:lnSpc>
                <a:spcPct val="115000"/>
              </a:lnSpc>
              <a:defRPr sz="2300" b="0">
                <a:solidFill>
                  <a:srgbClr val="163A3B"/>
                </a:solidFill>
                <a:latin typeface="Microsoft YaHei"/>
              </a:defRPr>
            </a:pPr>
          </a:p>
          <a:p>
            <a:pPr>
              <a:lnSpc>
                <a:spcPct val="115000"/>
              </a:lnSpc>
              <a:defRPr sz="2300" b="0">
                <a:solidFill>
                  <a:srgbClr val="163A3B"/>
                </a:solidFill>
                <a:latin typeface="Microsoft YaHei"/>
              </a:defRPr>
            </a:pPr>
            <a:r>
              <a:t>双击宠物获取热点</a:t>
            </a:r>
          </a:p>
          <a:p>
            <a:pPr>
              <a:lnSpc>
                <a:spcPct val="115000"/>
              </a:lnSpc>
              <a:defRPr sz="2300" b="0">
                <a:solidFill>
                  <a:srgbClr val="163A3B"/>
                </a:solidFill>
                <a:latin typeface="Microsoft YaHei"/>
              </a:defRPr>
            </a:pPr>
            <a:r>
              <a:t>完整正文在气泡内滚动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97180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面向小屏陪伴场景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3886200"/>
            <a:ext cx="41148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100" b="0">
                <a:solidFill>
                  <a:srgbClr val="607474"/>
                </a:solidFill>
                <a:latin typeface="Microsoft YaHei"/>
              </a:defRPr>
            </a:pPr>
            <a:r>
              <a:t>横屏布局与右上角气泡</a:t>
            </a:r>
          </a:p>
          <a:p>
            <a:pPr>
              <a:lnSpc>
                <a:spcPct val="115000"/>
              </a:lnSpc>
              <a:defRPr sz="2100" b="0">
                <a:solidFill>
                  <a:srgbClr val="607474"/>
                </a:solidFill>
                <a:latin typeface="Microsoft YaHei"/>
              </a:defRPr>
            </a:pPr>
            <a:r>
              <a:t>隐藏额外热点按钮</a:t>
            </a:r>
          </a:p>
          <a:p>
            <a:pPr>
              <a:lnSpc>
                <a:spcPct val="115000"/>
              </a:lnSpc>
              <a:defRPr sz="2100" b="0">
                <a:solidFill>
                  <a:srgbClr val="607474"/>
                </a:solidFill>
                <a:latin typeface="Microsoft YaHei"/>
              </a:defRPr>
            </a:pPr>
            <a:r>
              <a:t>双击保留主要交互</a:t>
            </a:r>
          </a:p>
          <a:p>
            <a:pPr>
              <a:lnSpc>
                <a:spcPct val="115000"/>
              </a:lnSpc>
              <a:defRPr sz="2100" b="0">
                <a:solidFill>
                  <a:srgbClr val="607474"/>
                </a:solidFill>
                <a:latin typeface="Microsoft YaHei"/>
              </a:defRPr>
            </a:pPr>
            <a:r>
              <a:t>宠物动画传达状态</a:t>
            </a:r>
          </a:p>
          <a:p>
            <a:pPr>
              <a:lnSpc>
                <a:spcPct val="115000"/>
              </a:lnSpc>
              <a:defRPr sz="2100" b="0">
                <a:solidFill>
                  <a:srgbClr val="607474"/>
                </a:solidFill>
                <a:latin typeface="Microsoft YaHei"/>
              </a:defRPr>
            </a:pPr>
          </a:p>
          <a:p>
            <a:pPr>
              <a:lnSpc>
                <a:spcPct val="115000"/>
              </a:lnSpc>
              <a:defRPr sz="2100" b="0">
                <a:solidFill>
                  <a:srgbClr val="607474"/>
                </a:solidFill>
                <a:latin typeface="Microsoft YaHei"/>
              </a:defRPr>
            </a:pPr>
            <a:r>
              <a:t>语音与后台能力待补齐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09  实体形态：Android 屏幕成为它的头部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既有概念图用于表达方向；机械、传感器与量产设计尚未实现。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10</a:t>
            </a:r>
          </a:p>
        </p:txBody>
      </p:sp>
      <p:pic>
        <p:nvPicPr>
          <p:cNvPr id="8" name="Picture 7" descr="deskpet-physical-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32888"/>
            <a:ext cx="7223760" cy="4818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2834640"/>
            <a:ext cx="5669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000" b="1">
                <a:solidFill>
                  <a:srgbClr val="163A3B"/>
                </a:solidFill>
                <a:latin typeface="Microsoft YaHei"/>
              </a:defRPr>
            </a:pPr>
            <a:r>
              <a:t>把陪伴放在桌面上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886200"/>
            <a:ext cx="56692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200" b="0">
                <a:solidFill>
                  <a:srgbClr val="607474"/>
                </a:solidFill>
                <a:latin typeface="Microsoft YaHei"/>
              </a:defRPr>
            </a:pPr>
            <a:r>
              <a:t>横向 Android 触摸屏</a:t>
            </a:r>
          </a:p>
          <a:p>
            <a:pPr>
              <a:lnSpc>
                <a:spcPct val="115000"/>
              </a:lnSpc>
              <a:defRPr sz="2200" b="0">
                <a:solidFill>
                  <a:srgbClr val="607474"/>
                </a:solidFill>
                <a:latin typeface="Microsoft YaHei"/>
              </a:defRPr>
            </a:pPr>
            <a:r>
              <a:t>圆润稳定的桌面机身</a:t>
            </a:r>
          </a:p>
          <a:p>
            <a:pPr>
              <a:lnSpc>
                <a:spcPct val="115000"/>
              </a:lnSpc>
              <a:defRPr sz="2200" b="0">
                <a:solidFill>
                  <a:srgbClr val="607474"/>
                </a:solidFill>
                <a:latin typeface="Microsoft YaHei"/>
              </a:defRPr>
            </a:pPr>
            <a:r>
              <a:t>软件通过表情与消息互动</a:t>
            </a:r>
          </a:p>
          <a:p>
            <a:pPr>
              <a:lnSpc>
                <a:spcPct val="115000"/>
              </a:lnSpc>
              <a:defRPr sz="2200" b="0">
                <a:solidFill>
                  <a:srgbClr val="607474"/>
                </a:solidFill>
                <a:latin typeface="Microsoft YaHei"/>
              </a:defRPr>
            </a:pPr>
            <a:r>
              <a:t>后续评估供电、散热与音频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6729984"/>
            <a:ext cx="5669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500" b="0">
                <a:solidFill>
                  <a:srgbClr val="607474"/>
                </a:solidFill>
                <a:latin typeface="Microsoft YaHei"/>
              </a:defRPr>
            </a:pPr>
            <a:r>
              <a:t>概念图中保留早期按钮；当前软件</a:t>
            </a:r>
          </a:p>
          <a:p>
            <a:pPr>
              <a:lnSpc>
                <a:spcPct val="115000"/>
              </a:lnSpc>
              <a:defRPr sz="1500" b="0">
                <a:solidFill>
                  <a:srgbClr val="607474"/>
                </a:solidFill>
                <a:latin typeface="Microsoft YaHei"/>
              </a:defRPr>
            </a:pPr>
            <a:r>
              <a:t>已隐藏“听点新鲜事”按钮。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10  从开发电脑到用户电脑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当前已生成 Windows x64 Release 便携包；跨电脑验收仍需覆盖运行权限和网络。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6309360" cy="4206240"/>
          </a:xfrm>
          <a:prstGeom prst="roundRect">
            <a:avLst>
              <a:gd name="adj" fmla="val 12000"/>
            </a:avLst>
          </a:prstGeom>
          <a:solidFill>
            <a:srgbClr val="16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700" b="1">
                <a:solidFill>
                  <a:srgbClr val="FFFFFF"/>
                </a:solidFill>
                <a:latin typeface="Microsoft YaHei"/>
              </a:defRPr>
            </a:pPr>
            <a:r>
              <a:t>完整复制，而非只发 EXE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5577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200" b="0">
                <a:solidFill>
                  <a:srgbClr val="B8CFCA"/>
                </a:solidFill>
                <a:latin typeface="Microsoft YaHei"/>
              </a:defRPr>
            </a:pPr>
            <a:r>
              <a:t>DeskPet/</a:t>
            </a:r>
          </a:p>
          <a:p>
            <a:pPr>
              <a:lnSpc>
                <a:spcPct val="115000"/>
              </a:lnSpc>
              <a:defRPr sz="2200" b="0">
                <a:solidFill>
                  <a:srgbClr val="B8CFCA"/>
                </a:solidFill>
                <a:latin typeface="Microsoft YaHei"/>
              </a:defRPr>
            </a:pPr>
            <a:r>
              <a:t>  deskpet-app.exe</a:t>
            </a:r>
          </a:p>
          <a:p>
            <a:pPr>
              <a:lnSpc>
                <a:spcPct val="115000"/>
              </a:lnSpc>
              <a:defRPr sz="2200" b="0">
                <a:solidFill>
                  <a:srgbClr val="B8CFCA"/>
                </a:solidFill>
                <a:latin typeface="Microsoft YaHei"/>
              </a:defRPr>
            </a:pPr>
            <a:r>
              <a:t>  tts/</a:t>
            </a:r>
          </a:p>
          <a:p>
            <a:pPr>
              <a:lnSpc>
                <a:spcPct val="115000"/>
              </a:lnSpc>
              <a:defRPr sz="2200" b="0">
                <a:solidFill>
                  <a:srgbClr val="B8CFCA"/>
                </a:solidFill>
                <a:latin typeface="Microsoft YaHei"/>
              </a:defRPr>
            </a:pPr>
            <a:r>
              <a:t>    python/  ·  便携 Python + Edge TTS</a:t>
            </a:r>
          </a:p>
          <a:p>
            <a:pPr>
              <a:lnSpc>
                <a:spcPct val="115000"/>
              </a:lnSpc>
              <a:defRPr sz="2200" b="0">
                <a:solidFill>
                  <a:srgbClr val="B8CFCA"/>
                </a:solidFill>
                <a:latin typeface="Microsoft YaHei"/>
              </a:defRPr>
            </a:pPr>
            <a:r>
              <a:t>    mpv/      ·  播放器及依赖</a:t>
            </a:r>
          </a:p>
          <a:p>
            <a:pPr>
              <a:lnSpc>
                <a:spcPct val="115000"/>
              </a:lnSpc>
              <a:defRPr sz="2200" b="0">
                <a:solidFill>
                  <a:srgbClr val="B8CFCA"/>
                </a:solidFill>
                <a:latin typeface="Microsoft YaHei"/>
              </a:defRPr>
            </a:pPr>
            <a:r>
              <a:t>    edge_worker.py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92608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700" b="1">
                <a:solidFill>
                  <a:srgbClr val="163A3B"/>
                </a:solidFill>
                <a:latin typeface="Microsoft YaHei"/>
              </a:defRPr>
            </a:pPr>
            <a:r>
              <a:t>目标电脑运行条件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3840480"/>
            <a:ext cx="6400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200" b="0">
                <a:solidFill>
                  <a:srgbClr val="607474"/>
                </a:solidFill>
                <a:latin typeface="Microsoft YaHei"/>
              </a:defRPr>
            </a:pPr>
            <a:r>
              <a:t>Windows x64 与 WebView2 环境</a:t>
            </a:r>
          </a:p>
          <a:p>
            <a:pPr>
              <a:lnSpc>
                <a:spcPct val="115000"/>
              </a:lnSpc>
              <a:defRPr sz="2200" b="0">
                <a:solidFill>
                  <a:srgbClr val="607474"/>
                </a:solidFill>
                <a:latin typeface="Microsoft YaHei"/>
              </a:defRPr>
            </a:pPr>
            <a:r>
              <a:t>可访问 Edge TTS 的网络</a:t>
            </a:r>
          </a:p>
          <a:p>
            <a:pPr>
              <a:lnSpc>
                <a:spcPct val="115000"/>
              </a:lnSpc>
              <a:defRPr sz="2200" b="0">
                <a:solidFill>
                  <a:srgbClr val="607474"/>
                </a:solidFill>
                <a:latin typeface="Microsoft YaHei"/>
              </a:defRPr>
            </a:pPr>
            <a:r>
              <a:t>语音运行时具备执行权限</a:t>
            </a:r>
          </a:p>
          <a:p>
            <a:pPr>
              <a:lnSpc>
                <a:spcPct val="115000"/>
              </a:lnSpc>
              <a:defRPr sz="2200" b="0">
                <a:solidFill>
                  <a:srgbClr val="607474"/>
                </a:solidFill>
                <a:latin typeface="Microsoft YaHei"/>
              </a:defRPr>
            </a:pPr>
          </a:p>
          <a:p>
            <a:pPr>
              <a:lnSpc>
                <a:spcPct val="115000"/>
              </a:lnSpc>
              <a:defRPr sz="2200" b="0">
                <a:solidFill>
                  <a:srgbClr val="607474"/>
                </a:solidFill>
                <a:latin typeface="Microsoft YaHei"/>
              </a:defRPr>
            </a:pPr>
            <a:r>
              <a:t>用户配置和 SQLite 位于本地数据目录</a:t>
            </a:r>
          </a:p>
          <a:p>
            <a:pPr>
              <a:lnSpc>
                <a:spcPct val="115000"/>
              </a:lnSpc>
              <a:defRPr sz="2200" b="0">
                <a:solidFill>
                  <a:srgbClr val="607474"/>
                </a:solidFill>
                <a:latin typeface="Microsoft YaHei"/>
              </a:defRPr>
            </a:pPr>
            <a:r>
              <a:t>便携包不包含开发者 Key 与数据库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685800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1">
                <a:solidFill>
                  <a:srgbClr val="1F7771"/>
                </a:solidFill>
                <a:latin typeface="Microsoft YaHei"/>
              </a:defRPr>
            </a:pPr>
            <a:r>
              <a:t>构建、打包与完整实机验收是不同阶段。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607474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353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163A3B"/>
                </a:solidFill>
                <a:latin typeface="Microsoft YaHei"/>
              </a:defRPr>
            </a:pPr>
            <a:r>
              <a:t>11  当前进展与下一阶段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按可独立验收的小版本推进，优先补齐交付和平台差异。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607474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4297680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已实现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56432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产品交互主链路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38404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双击刷新、反馈与人设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Windows 桌宠与 Edge 语音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Android 横屏与气泡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Release 便携包生成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HTTP(S) 链接朗读截断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2743200"/>
            <a:ext cx="4297680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926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近期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456432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稳定性与设备验收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114800"/>
            <a:ext cx="38404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跨电脑完整运行验证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权限、网络与缺依赖诊断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播报取消、退出与长文测试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统一手动入口行为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配置重启前后一致性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2743200"/>
            <a:ext cx="4297680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12680" y="2926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000" b="1">
                <a:solidFill>
                  <a:srgbClr val="E87E58"/>
                </a:solidFill>
                <a:latin typeface="Microsoft YaHei"/>
              </a:defRPr>
            </a:pPr>
            <a:r>
              <a:t>后续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3456432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163A3B"/>
                </a:solidFill>
                <a:latin typeface="Microsoft YaHei"/>
              </a:defRPr>
            </a:pPr>
            <a:r>
              <a:t>平台与陪伴能力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4114800"/>
            <a:ext cx="38404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Android 语音输出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生命周期与后台方案评估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跨平台同事件去重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数据迁移与资源扩展</a:t>
            </a:r>
          </a:p>
          <a:p>
            <a:pPr>
              <a:lnSpc>
                <a:spcPct val="115000"/>
              </a:lnSpc>
              <a:defRPr sz="1800" b="0">
                <a:solidFill>
                  <a:srgbClr val="607474"/>
                </a:solidFill>
                <a:latin typeface="Microsoft YaHei"/>
              </a:defRPr>
            </a:pPr>
            <a:r>
              <a:t>实体硬件原型验证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7040880"/>
            <a:ext cx="1316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700" b="0">
                <a:solidFill>
                  <a:srgbClr val="607474"/>
                </a:solidFill>
                <a:latin typeface="Microsoft YaHei"/>
              </a:defRPr>
            </a:pPr>
            <a:r>
              <a:t>不承诺尚未完成的设备支持、离线能力或完成日期。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A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402336" cy="54864"/>
          </a:xfrm>
          <a:prstGeom prst="rect">
            <a:avLst/>
          </a:prstGeom>
          <a:solidFill>
            <a:srgbClr val="E8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383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B8CFCA"/>
                </a:solidFill>
                <a:latin typeface="Microsoft YaHei"/>
              </a:defRPr>
            </a:pPr>
            <a:r>
              <a:t>DESKPET  / 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90688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100" b="0">
                <a:solidFill>
                  <a:srgbClr val="B8CFCA"/>
                </a:solidFill>
                <a:latin typeface="Microsoft YaHei"/>
              </a:defRPr>
            </a:pPr>
            <a:r>
              <a:t>DeskPet  ·  项目介绍  ·  2026.10.24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0" y="7744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1400" b="1">
                <a:solidFill>
                  <a:srgbClr val="E87E58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2618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4300" b="1">
                <a:solidFill>
                  <a:srgbClr val="FFFFFF"/>
                </a:solidFill>
                <a:latin typeface="Microsoft YaHei"/>
              </a:defRPr>
            </a:pPr>
            <a:r>
              <a:t>让信息有用，让陪伴有回应。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14300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700" b="0">
                <a:solidFill>
                  <a:srgbClr val="B8CFCA"/>
                </a:solidFill>
                <a:latin typeface="Microsoft YaHei"/>
              </a:defRPr>
            </a:pPr>
            <a:r>
              <a:t>DeskPet 用一套共享核心，连接热点、兴趣与宠物表达。</a:t>
            </a:r>
          </a:p>
          <a:p>
            <a:pPr>
              <a:lnSpc>
                <a:spcPct val="115000"/>
              </a:lnSpc>
              <a:defRPr sz="2700" b="0">
                <a:solidFill>
                  <a:srgbClr val="B8CFCA"/>
                </a:solidFill>
                <a:latin typeface="Microsoft YaHei"/>
              </a:defRPr>
            </a:pPr>
            <a:r>
              <a:t>从 Windows 桌面出发，走向 Android 屏幕与实体桌宠。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57800"/>
            <a:ext cx="9144000" cy="960120"/>
          </a:xfrm>
          <a:prstGeom prst="roundRect">
            <a:avLst>
              <a:gd name="adj" fmla="val 12000"/>
            </a:avLst>
          </a:prstGeom>
          <a:solidFill>
            <a:srgbClr val="1F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495544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2500" b="1">
                <a:solidFill>
                  <a:srgbClr val="FFFFFF"/>
                </a:solidFill>
                <a:latin typeface="Microsoft YaHei"/>
              </a:defRPr>
            </a:pPr>
            <a:r>
              <a:t>当前重点：可靠交付 Windows，补齐 Android 语音。</a:t>
            </a:r>
          </a:p>
        </p:txBody>
      </p:sp>
      <p:pic>
        <p:nvPicPr>
          <p:cNvPr id="10" name="Picture 9" descr="happy.png"/>
          <p:cNvPicPr>
            <a:picLocks noChangeAspect="1"/>
          </p:cNvPicPr>
          <p:nvPr/>
        </p:nvPicPr>
        <p:blipFill>
          <a:blip r:embed="rId3"/>
          <a:srcRect r="87500"/>
          <a:stretch>
            <a:fillRect/>
          </a:stretch>
        </p:blipFill>
        <p:spPr>
          <a:xfrm>
            <a:off x="11247120" y="484632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DeskPet｜把信息变成陪伴</dc:title>
  <dc:subject>项目介绍 · 产品体验 · 技术架构 · 交付与规划</dc:subject>
  <dc:creator>DeskPet</dc:creator>
  <cp:keywords>DeskPet,桌宠,Rust,Tauri,Android,Edge TTS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