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资料依据（项目相对路径）：README.md; docs/product-features.md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资料依据（项目相对路径）：docs/product-features.md; docs/design/desktop-companion.md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资料依据（项目相对路径）：crates/deskpet-app/src/runtime.rs; crates/deskpet-scheduler/src/scheduler.rs; docs/architecture.md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资料依据（项目相对路径）：docs/architecture.md; crates/deskpet-agent/src/scoring.rs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资料依据（项目相对路径）：README.md; docs/product-features.md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资料依据（项目相对路径）：docs/project-structure.md; docs/architecture.md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资料依据（项目相对路径）：docs/windows-edge-integration-plan.md; crates/deskpet-app/src/windows_speech.rs; crates/deskpet-tts/src/lib.rs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资料依据（项目相对路径）：docs/design/desktop-companion.md; crates/deskpet-app/frontend/mobile.css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资料依据（项目相对路径）：docs/design/deskpet-physical-concept.png; docs/design/desktop-companion.md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资料依据（项目相对路径）：crates/deskpet-app/frontend/settings.html; crates/deskpet-app/frontend/settings.js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资料依据（项目相对路径）：crates/deskpet-app/frontend/settings.html; crates/deskpet-app/src/config.rs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资料依据（项目相对路径）：README.md; docs/product-features.md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资料依据（项目相对路径）：README.md; docs/product-features.md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A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B8CFCA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B8CFCA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7772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DeskPet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把信息变成陪伴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114800"/>
            <a:ext cx="9144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300" b="0">
                <a:solidFill>
                  <a:srgbClr val="B8CFCA"/>
                </a:solidFill>
                <a:latin typeface="Microsoft YaHei"/>
              </a:defRPr>
            </a:pPr>
            <a:r>
              <a:t>主动搜索热点，主动分享你关心的新鲜事</a:t>
            </a:r>
          </a:p>
          <a:p>
            <a:pPr>
              <a:lnSpc>
                <a:spcPct val="115000"/>
              </a:lnSpc>
              <a:defRPr sz="2300" b="0">
                <a:solidFill>
                  <a:srgbClr val="B8CFCA"/>
                </a:solidFill>
                <a:latin typeface="Microsoft YaHei"/>
              </a:defRPr>
            </a:pPr>
            <a:r>
              <a:t>兴趣驱动 × 个性表达 × 语音陪伴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943600"/>
            <a:ext cx="3840480" cy="585216"/>
          </a:xfrm>
          <a:prstGeom prst="roundRect">
            <a:avLst>
              <a:gd name="adj" fmla="val 12000"/>
            </a:avLst>
          </a:prstGeom>
          <a:solidFill>
            <a:srgbClr val="1F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053328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主动分享  /  个性表达  /  轻量互动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20" y="2103120"/>
            <a:ext cx="3246120" cy="3931920"/>
          </a:xfrm>
          <a:prstGeom prst="roundRect">
            <a:avLst>
              <a:gd name="adj" fmla="val 12000"/>
            </a:avLst>
          </a:prstGeom>
          <a:solidFill>
            <a:srgbClr val="21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appy.png"/>
          <p:cNvPicPr>
            <a:picLocks noChangeAspect="1"/>
          </p:cNvPicPr>
          <p:nvPr/>
        </p:nvPicPr>
        <p:blipFill>
          <a:blip r:embed="rId3"/>
          <a:srcRect r="87500"/>
          <a:stretch>
            <a:fillRect/>
          </a:stretch>
        </p:blipFill>
        <p:spPr>
          <a:xfrm>
            <a:off x="10561320" y="2697480"/>
            <a:ext cx="2743200" cy="274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35640" y="59161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B8CFCA"/>
                </a:solidFill>
                <a:latin typeface="Microsoft YaHei"/>
              </a:defRPr>
            </a:pPr>
            <a:r>
              <a:t>让桌面多一点回应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01  同一套核心，两种陪伴形态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Windows 桌面宠物与 Android 横屏界面，共享热点采集、画像和内容生成能力。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649224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2697480"/>
            <a:ext cx="672084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163A3B"/>
                </a:solidFill>
                <a:latin typeface="Microsoft YaHei"/>
              </a:defRPr>
            </a:pPr>
            <a:r>
              <a:t>Windows｜桌面上的伙伴</a:t>
            </a:r>
          </a:p>
        </p:txBody>
      </p:sp>
      <p:pic>
        <p:nvPicPr>
          <p:cNvPr id="11" name="Picture 10" descr="idle.png"/>
          <p:cNvPicPr>
            <a:picLocks noChangeAspect="1"/>
          </p:cNvPicPr>
          <p:nvPr/>
        </p:nvPicPr>
        <p:blipFill>
          <a:blip r:embed="rId3"/>
          <a:srcRect r="87500"/>
          <a:stretch>
            <a:fillRect/>
          </a:stretch>
        </p:blipFill>
        <p:spPr>
          <a:xfrm>
            <a:off x="868680" y="3657600"/>
            <a:ext cx="1965960" cy="19659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154680" y="3730752"/>
            <a:ext cx="3337560" cy="1097280"/>
          </a:xfrm>
          <a:prstGeom prst="roundRect">
            <a:avLst>
              <a:gd name="adj" fmla="val 12000"/>
            </a:avLst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6704" y="38862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163A3B"/>
                </a:solidFill>
                <a:latin typeface="Microsoft YaHei"/>
              </a:defRPr>
            </a:pPr>
            <a:r>
              <a:t>主动分享新鲜事</a:t>
            </a:r>
          </a:p>
          <a:p>
            <a:pPr>
              <a:lnSpc>
                <a:spcPct val="115000"/>
              </a:lnSpc>
              <a:defRPr sz="1800" b="0">
                <a:solidFill>
                  <a:srgbClr val="163A3B"/>
                </a:solidFill>
                <a:latin typeface="Microsoft YaHei"/>
              </a:defRPr>
            </a:pPr>
            <a:r>
              <a:t>气泡展示 + 语音朗读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24728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900" b="0">
                <a:solidFill>
                  <a:srgbClr val="607474"/>
                </a:solidFill>
                <a:latin typeface="Microsoft YaHei"/>
              </a:defRPr>
            </a:pPr>
            <a:r>
              <a:t>透明窗口 · 可拖动 · 托盘设置</a:t>
            </a:r>
          </a:p>
          <a:p>
            <a:pPr>
              <a:lnSpc>
                <a:spcPct val="115000"/>
              </a:lnSpc>
              <a:defRPr sz="1900" b="0">
                <a:solidFill>
                  <a:srgbClr val="607474"/>
                </a:solidFill>
                <a:latin typeface="Microsoft YaHei"/>
              </a:defRPr>
            </a:pPr>
            <a:r>
              <a:t>阅读时暂停关闭 · 反馈学习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92608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163A3B"/>
                </a:solidFill>
                <a:latin typeface="Microsoft YaHei"/>
              </a:defRPr>
            </a:pPr>
            <a:r>
              <a:t>Android｜头部屏幕界面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703320"/>
            <a:ext cx="5852160" cy="1737360"/>
          </a:xfrm>
          <a:prstGeom prst="roundRect">
            <a:avLst>
              <a:gd name="adj" fmla="val 12000"/>
            </a:avLst>
          </a:prstGeom>
          <a:solidFill>
            <a:srgbClr val="16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urious.png"/>
          <p:cNvPicPr>
            <a:picLocks noChangeAspect="1"/>
          </p:cNvPicPr>
          <p:nvPr/>
        </p:nvPicPr>
        <p:blipFill>
          <a:blip r:embed="rId4"/>
          <a:srcRect r="87500"/>
          <a:stretch>
            <a:fillRect/>
          </a:stretch>
        </p:blipFill>
        <p:spPr>
          <a:xfrm>
            <a:off x="7955279" y="3849624"/>
            <a:ext cx="1508760" cy="15087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0058400" y="3904487"/>
            <a:ext cx="3246120" cy="960120"/>
          </a:xfrm>
          <a:prstGeom prst="roundRect">
            <a:avLst>
              <a:gd name="adj" fmla="val 12000"/>
            </a:avLst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4041648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163A3B"/>
                </a:solidFill>
                <a:latin typeface="Microsoft YaHei"/>
              </a:defRPr>
            </a:pPr>
            <a:r>
              <a:t>右上角消息气泡</a:t>
            </a:r>
          </a:p>
          <a:p>
            <a:pPr>
              <a:lnSpc>
                <a:spcPct val="115000"/>
              </a:lnSpc>
              <a:defRPr sz="1700" b="0">
                <a:solidFill>
                  <a:srgbClr val="163A3B"/>
                </a:solidFill>
                <a:latin typeface="Microsoft YaHei"/>
              </a:defRPr>
            </a:pPr>
            <a:r>
              <a:t>正文可独立滚动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824728"/>
            <a:ext cx="5852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横屏沉浸 · 前台亮屏 · 触摸互动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待机宠物居中 · 消息气泡位于右上方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02  核心闭环：主动发现，主动播报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不等待用户提问：主动采集 → 兴趣筛选 → 择机分享 → 反馈学习。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71800"/>
            <a:ext cx="251460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85032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主动搜索热点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20574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主动关注多平台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发现新鲜内容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087368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E87E58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0984" y="2971800"/>
            <a:ext cx="251460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31546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3685032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判断是否分享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4343400"/>
            <a:ext cx="20574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综合兴趣与热度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结合间隔和勿扰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4087368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E87E58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971800"/>
            <a:ext cx="251460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31546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3685032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生成宠物表达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4343400"/>
            <a:ext cx="20574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排除已播报内容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融入人设与画像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4087368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E87E58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5672" y="2971800"/>
            <a:ext cx="251460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4272" y="31546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4272" y="3685032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主动展示播报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4343400"/>
            <a:ext cx="20574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气泡呈现新鲜事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Windows 语音朗读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4087368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E87E58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558016" y="2971800"/>
            <a:ext cx="251460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86616" y="31546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86616" y="3685032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反馈更新偏好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86616" y="4343400"/>
            <a:ext cx="20574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喜欢 / 不感兴趣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用于后续内容筛选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6400800"/>
            <a:ext cx="13533120" cy="859536"/>
          </a:xfrm>
          <a:prstGeom prst="roundRect">
            <a:avLst>
              <a:gd name="adj" fmla="val 12000"/>
            </a:avLst>
          </a:prstGeom>
          <a:solidFill>
            <a:srgbClr val="16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6574536"/>
            <a:ext cx="13030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宠物持续关注新内容，在合适的时机主动分享，让陪伴自然发生。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03  内容如何变得更贴近用户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以可解释的规则组合兴趣、热度、新鲜度与反馈。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850392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8094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163A3B"/>
                </a:solidFill>
                <a:latin typeface="Microsoft YaHei"/>
              </a:defRPr>
            </a:pPr>
            <a:r>
              <a:t>内容处理链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76472"/>
            <a:ext cx="777240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100" b="0">
                <a:solidFill>
                  <a:srgbClr val="163A3B"/>
                </a:solidFill>
                <a:latin typeface="Microsoft YaHei"/>
              </a:defRPr>
            </a:pPr>
            <a:r>
              <a:t>目标支持平台：知乎 / B站 / 微博 / 抖音 / 小红书</a:t>
            </a:r>
          </a:p>
          <a:p>
            <a:pPr>
              <a:lnSpc>
                <a:spcPct val="115000"/>
              </a:lnSpc>
              <a:defRPr sz="2100" b="0">
                <a:solidFill>
                  <a:srgbClr val="163A3B"/>
                </a:solidFill>
                <a:latin typeface="Microsoft YaHei"/>
              </a:defRPr>
            </a:pPr>
            <a:r>
              <a:t>→ 标签处理、可选向量与去重入库</a:t>
            </a:r>
          </a:p>
          <a:p>
            <a:pPr>
              <a:lnSpc>
                <a:spcPct val="115000"/>
              </a:lnSpc>
              <a:defRPr sz="2100" b="0">
                <a:solidFill>
                  <a:srgbClr val="163A3B"/>
                </a:solidFill>
                <a:latin typeface="Microsoft YaHei"/>
              </a:defRPr>
            </a:pPr>
            <a:r>
              <a:t>→ 兴趣匹配、热度与新鲜度综合评分</a:t>
            </a:r>
          </a:p>
          <a:p>
            <a:pPr>
              <a:lnSpc>
                <a:spcPct val="115000"/>
              </a:lnSpc>
              <a:defRPr sz="2100" b="0">
                <a:solidFill>
                  <a:srgbClr val="163A3B"/>
                </a:solidFill>
                <a:latin typeface="Microsoft YaHei"/>
              </a:defRPr>
            </a:pPr>
            <a:r>
              <a:t>→ 宠物人设 + 模型表达 / 无 Key 模板降级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2743200"/>
            <a:ext cx="4572000" cy="4069080"/>
          </a:xfrm>
          <a:prstGeom prst="roundRect">
            <a:avLst>
              <a:gd name="adj" fmla="val 12000"/>
            </a:avLst>
          </a:prstGeom>
          <a:solidFill>
            <a:srgbClr val="16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3044952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FFFFFF"/>
                </a:solidFill>
                <a:latin typeface="Microsoft YaHei"/>
              </a:defRPr>
            </a:pPr>
            <a:r>
              <a:t>反馈让偏好持续变化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3959352"/>
            <a:ext cx="402336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100" b="0">
                <a:solidFill>
                  <a:srgbClr val="B8CFCA"/>
                </a:solidFill>
                <a:latin typeface="Microsoft YaHei"/>
              </a:defRPr>
            </a:pPr>
            <a:r>
              <a:t>喜欢 → 调整标签兴趣</a:t>
            </a:r>
          </a:p>
          <a:p>
            <a:pPr>
              <a:lnSpc>
                <a:spcPct val="115000"/>
              </a:lnSpc>
              <a:defRPr sz="2100" b="0">
                <a:solidFill>
                  <a:srgbClr val="B8CFCA"/>
                </a:solidFill>
                <a:latin typeface="Microsoft YaHei"/>
              </a:defRPr>
            </a:pPr>
            <a:r>
              <a:t>不感兴趣 → 降低相关偏好</a:t>
            </a:r>
          </a:p>
          <a:p>
            <a:pPr>
              <a:lnSpc>
                <a:spcPct val="115000"/>
              </a:lnSpc>
              <a:defRPr sz="2100" b="0">
                <a:solidFill>
                  <a:srgbClr val="B8CFCA"/>
                </a:solidFill>
                <a:latin typeface="Microsoft YaHei"/>
              </a:defRPr>
            </a:pPr>
            <a:r>
              <a:t>定期维护 → 兴趣权重衰减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7178040"/>
            <a:ext cx="1325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1F7771"/>
                </a:solidFill>
                <a:latin typeface="Microsoft YaHei"/>
              </a:defRPr>
            </a:pPr>
            <a:r>
              <a:t>信息经过采集、筛选、记录与反馈，形成持续运转的个性化内容链路。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04  个性化表达：同样的热点，不同的陪伴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宠物名称、性格、表达偏好与背景参与模型回复，六种动画情绪增强互动感。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210312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dle.png"/>
          <p:cNvPicPr>
            <a:picLocks noChangeAspect="1"/>
          </p:cNvPicPr>
          <p:nvPr/>
        </p:nvPicPr>
        <p:blipFill>
          <a:blip r:embed="rId3"/>
          <a:srcRect r="87500"/>
          <a:stretch>
            <a:fillRect/>
          </a:stretch>
        </p:blipFill>
        <p:spPr>
          <a:xfrm>
            <a:off x="822960" y="3154680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8720" y="48188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100" b="1">
                <a:solidFill>
                  <a:srgbClr val="163A3B"/>
                </a:solidFill>
                <a:latin typeface="Microsoft YaHei"/>
              </a:defRPr>
            </a:pPr>
            <a:r>
              <a:t>待机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926080"/>
            <a:ext cx="210312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appy.png"/>
          <p:cNvPicPr>
            <a:picLocks noChangeAspect="1"/>
          </p:cNvPicPr>
          <p:nvPr/>
        </p:nvPicPr>
        <p:blipFill>
          <a:blip r:embed="rId4"/>
          <a:srcRect r="87500"/>
          <a:stretch>
            <a:fillRect/>
          </a:stretch>
        </p:blipFill>
        <p:spPr>
          <a:xfrm>
            <a:off x="3108960" y="3154680"/>
            <a:ext cx="1554480" cy="1554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74720" y="48188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100" b="1">
                <a:solidFill>
                  <a:srgbClr val="163A3B"/>
                </a:solidFill>
                <a:latin typeface="Microsoft YaHei"/>
              </a:defRPr>
            </a:pPr>
            <a:r>
              <a:t>开心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926080"/>
            <a:ext cx="210312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urious.png"/>
          <p:cNvPicPr>
            <a:picLocks noChangeAspect="1"/>
          </p:cNvPicPr>
          <p:nvPr/>
        </p:nvPicPr>
        <p:blipFill>
          <a:blip r:embed="rId5"/>
          <a:srcRect r="87500"/>
          <a:stretch>
            <a:fillRect/>
          </a:stretch>
        </p:blipFill>
        <p:spPr>
          <a:xfrm>
            <a:off x="5394960" y="3154680"/>
            <a:ext cx="1554480" cy="1554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60720" y="48188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100" b="1">
                <a:solidFill>
                  <a:srgbClr val="163A3B"/>
                </a:solidFill>
                <a:latin typeface="Microsoft YaHei"/>
              </a:defRPr>
            </a:pPr>
            <a:r>
              <a:t>好奇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926080"/>
            <a:ext cx="210312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xcited.png"/>
          <p:cNvPicPr>
            <a:picLocks noChangeAspect="1"/>
          </p:cNvPicPr>
          <p:nvPr/>
        </p:nvPicPr>
        <p:blipFill>
          <a:blip r:embed="rId6"/>
          <a:srcRect r="87500"/>
          <a:stretch>
            <a:fillRect/>
          </a:stretch>
        </p:blipFill>
        <p:spPr>
          <a:xfrm>
            <a:off x="7680960" y="3154680"/>
            <a:ext cx="1554480" cy="1554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46720" y="48188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100" b="1">
                <a:solidFill>
                  <a:srgbClr val="163A3B"/>
                </a:solidFill>
                <a:latin typeface="Microsoft YaHei"/>
              </a:defRPr>
            </a:pPr>
            <a:r>
              <a:t>兴奋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926080"/>
            <a:ext cx="210312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leepy.png"/>
          <p:cNvPicPr>
            <a:picLocks noChangeAspect="1"/>
          </p:cNvPicPr>
          <p:nvPr/>
        </p:nvPicPr>
        <p:blipFill>
          <a:blip r:embed="rId7"/>
          <a:srcRect r="87500"/>
          <a:stretch>
            <a:fillRect/>
          </a:stretch>
        </p:blipFill>
        <p:spPr>
          <a:xfrm>
            <a:off x="9966960" y="3154680"/>
            <a:ext cx="1554480" cy="1554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332720" y="48188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100" b="1">
                <a:solidFill>
                  <a:srgbClr val="163A3B"/>
                </a:solidFill>
                <a:latin typeface="Microsoft YaHei"/>
              </a:defRPr>
            </a:pPr>
            <a:r>
              <a:t>困倦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978640" y="2926080"/>
            <a:ext cx="210312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ored.png"/>
          <p:cNvPicPr>
            <a:picLocks noChangeAspect="1"/>
          </p:cNvPicPr>
          <p:nvPr/>
        </p:nvPicPr>
        <p:blipFill>
          <a:blip r:embed="rId8"/>
          <a:srcRect r="87500"/>
          <a:stretch>
            <a:fillRect/>
          </a:stretch>
        </p:blipFill>
        <p:spPr>
          <a:xfrm>
            <a:off x="12252960" y="3154680"/>
            <a:ext cx="1554480" cy="15544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618720" y="48188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100" b="1">
                <a:solidFill>
                  <a:srgbClr val="163A3B"/>
                </a:solidFill>
                <a:latin typeface="Microsoft YaHei"/>
              </a:defRPr>
            </a:pPr>
            <a:r>
              <a:t>无聊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943600"/>
            <a:ext cx="13533120" cy="1143000"/>
          </a:xfrm>
          <a:prstGeom prst="roundRect">
            <a:avLst>
              <a:gd name="adj" fmla="val 12000"/>
            </a:avLst>
          </a:prstGeom>
          <a:solidFill>
            <a:srgbClr val="16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172200"/>
            <a:ext cx="12984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内容有来源，表达有性格，互动有情绪。</a:t>
            </a:r>
          </a:p>
          <a:p>
            <a:pPr>
              <a:lnSpc>
                <a:spcPct val="115000"/>
              </a:lnSpc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用户既可以定义宠物如何说话，也可以通过反馈告诉它自己喜欢什么。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05  Rust 核心复用，平台界面分层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Rust workspace + Tauri + HTML/CSS/JavaScript + SQLite。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6492240" cy="1143000"/>
          </a:xfrm>
          <a:prstGeom prst="roundRect">
            <a:avLst>
              <a:gd name="adj" fmla="val 12000"/>
            </a:avLst>
          </a:prstGeom>
          <a:solidFill>
            <a:srgbClr val="16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Windows 平台层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B8CFCA"/>
                </a:solidFill>
                <a:latin typeface="Microsoft YaHei"/>
              </a:defRPr>
            </a:pPr>
            <a:r>
              <a:t>透明桌宠 / 独立气泡 / 托盘 / 语音进程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651760"/>
            <a:ext cx="6720840" cy="1143000"/>
          </a:xfrm>
          <a:prstGeom prst="roundRect">
            <a:avLst>
              <a:gd name="adj" fmla="val 12000"/>
            </a:avLst>
          </a:prstGeom>
          <a:solidFill>
            <a:srgbClr val="16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788920"/>
            <a:ext cx="6263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Android 平台层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319272"/>
            <a:ext cx="6263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B8CFCA"/>
                </a:solidFill>
                <a:latin typeface="Microsoft YaHei"/>
              </a:defRPr>
            </a:pPr>
            <a:r>
              <a:t>Activity / 横屏沉浸 / 页面内气泡 / 前台亮屏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14800"/>
            <a:ext cx="13533120" cy="960120"/>
          </a:xfrm>
          <a:prstGeom prst="roundRect">
            <a:avLst>
              <a:gd name="adj" fmla="val 12000"/>
            </a:avLst>
          </a:prstGeom>
          <a:solidFill>
            <a:srgbClr val="1F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61688"/>
            <a:ext cx="12893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deskpet-app  ·  配置、IPC、生命周期与共享前端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94960"/>
            <a:ext cx="3163824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13832"/>
            <a:ext cx="2798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300" b="1">
                <a:solidFill>
                  <a:srgbClr val="1F7771"/>
                </a:solidFill>
                <a:latin typeface="Microsoft YaHei"/>
              </a:defRPr>
            </a:pPr>
            <a:r>
              <a:t>collector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52744"/>
            <a:ext cx="2798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多平台采集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5394960"/>
            <a:ext cx="3163824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87952" y="5513832"/>
            <a:ext cx="2798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300" b="1">
                <a:solidFill>
                  <a:srgbClr val="1F7771"/>
                </a:solidFill>
                <a:latin typeface="Microsoft YaHei"/>
              </a:defRPr>
            </a:pPr>
            <a:r>
              <a:t>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5952744"/>
            <a:ext cx="2798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筛选与表达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61504" y="5394960"/>
            <a:ext cx="3163824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4383" y="5513832"/>
            <a:ext cx="2798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300" b="1">
                <a:solidFill>
                  <a:srgbClr val="1F7771"/>
                </a:solidFill>
                <a:latin typeface="Microsoft YaHei"/>
              </a:defRPr>
            </a:pPr>
            <a:r>
              <a:t>scheduler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5952744"/>
            <a:ext cx="2798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主动调度与策略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17936" y="5394960"/>
            <a:ext cx="3163824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00816" y="5513832"/>
            <a:ext cx="2798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300" b="1">
                <a:solidFill>
                  <a:srgbClr val="1F7771"/>
                </a:solidFill>
                <a:latin typeface="Microsoft YaHei"/>
              </a:defRPr>
            </a:pPr>
            <a:r>
              <a:t>tts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0816" y="5952744"/>
            <a:ext cx="2798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合成与播放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675120"/>
            <a:ext cx="135331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793992"/>
            <a:ext cx="12984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300" b="1">
                <a:solidFill>
                  <a:srgbClr val="163A3B"/>
                </a:solidFill>
                <a:latin typeface="Microsoft YaHei"/>
              </a:defRPr>
            </a:pPr>
            <a:r>
              <a:t>core 共享类型    +    storage / SQLite    +    本地配置与轮转日志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06  Windows 语音：先看到，再听到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Edge TTS 在线合成，便携 Python 执行 worker，mpv 播放本地音频。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3163824" cy="2880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2706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47872"/>
            <a:ext cx="2706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气泡确认显示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270662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正文先渲染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合成不阻塞显示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5072" y="2834640"/>
            <a:ext cx="3163824" cy="2880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2" y="3017520"/>
            <a:ext cx="2706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3547872"/>
            <a:ext cx="2706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异步合成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4206240"/>
            <a:ext cx="270662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Edge TTS 生成 MP3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失败保留文字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61504" y="2834640"/>
            <a:ext cx="3163824" cy="2880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0104" y="3017520"/>
            <a:ext cx="2706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0104" y="3547872"/>
            <a:ext cx="2706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播放并保持气泡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0104" y="4206240"/>
            <a:ext cx="270662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合成与播放期间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暂停自动关闭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17936" y="2834640"/>
            <a:ext cx="3163824" cy="2880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46536" y="3017520"/>
            <a:ext cx="2706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6536" y="3547872"/>
            <a:ext cx="2706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结束或主动停止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6536" y="4206240"/>
            <a:ext cx="270662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结束恢复阅读计时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关闭气泡即停止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309360"/>
            <a:ext cx="13533120" cy="1051560"/>
          </a:xfrm>
          <a:prstGeom prst="roundRect">
            <a:avLst>
              <a:gd name="adj" fmla="val 12000"/>
            </a:avLst>
          </a:prstGeom>
          <a:solidFill>
            <a:srgbClr val="16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501384"/>
            <a:ext cx="12984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音色自由选择，语音开关由用户掌控；关闭气泡即可停止对应朗读。</a:t>
            </a:r>
          </a:p>
          <a:p>
            <a:pPr>
              <a:lnSpc>
                <a:spcPct val="115000"/>
              </a:lnSpc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链接自动结束朗读，新消息替换旧任务，让内容呈现与声音保持同步。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07  Android：为桌面陪伴设计的横屏体验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界面布局示意：待机时宠物居中，消息出现后让出阅读区域。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8686800" cy="4114800"/>
          </a:xfrm>
          <a:prstGeom prst="roundRect">
            <a:avLst>
              <a:gd name="adj" fmla="val 12000"/>
            </a:avLst>
          </a:prstGeom>
          <a:solidFill>
            <a:srgbClr val="16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62656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B8CFCA"/>
                </a:solidFill>
                <a:latin typeface="Microsoft YaHei"/>
              </a:defRPr>
            </a:pPr>
            <a:r>
              <a:t>DeskPet                              横屏 · 沉浸 · 前台亮屏</a:t>
            </a:r>
          </a:p>
        </p:txBody>
      </p:sp>
      <p:pic>
        <p:nvPicPr>
          <p:cNvPr id="10" name="Picture 9" descr="happy.png"/>
          <p:cNvPicPr>
            <a:picLocks noChangeAspect="1"/>
          </p:cNvPicPr>
          <p:nvPr/>
        </p:nvPicPr>
        <p:blipFill>
          <a:blip r:embed="rId3"/>
          <a:srcRect r="87500"/>
          <a:stretch>
            <a:fillRect/>
          </a:stretch>
        </p:blipFill>
        <p:spPr>
          <a:xfrm>
            <a:off x="914400" y="3867912"/>
            <a:ext cx="2423160" cy="24231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840480" y="3566160"/>
            <a:ext cx="4892040" cy="2103120"/>
          </a:xfrm>
          <a:prstGeom prst="roundRect">
            <a:avLst>
              <a:gd name="adj" fmla="val 12000"/>
            </a:avLst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3794760"/>
            <a:ext cx="42976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300" b="0">
                <a:solidFill>
                  <a:srgbClr val="163A3B"/>
                </a:solidFill>
                <a:latin typeface="Microsoft YaHei"/>
              </a:defRPr>
            </a:pPr>
            <a:r>
              <a:t>发现一条你可能感兴趣的热点</a:t>
            </a:r>
          </a:p>
          <a:p>
            <a:pPr>
              <a:lnSpc>
                <a:spcPct val="115000"/>
              </a:lnSpc>
              <a:defRPr sz="2300" b="0">
                <a:solidFill>
                  <a:srgbClr val="163A3B"/>
                </a:solidFill>
                <a:latin typeface="Microsoft YaHei"/>
              </a:defRPr>
            </a:pPr>
          </a:p>
          <a:p>
            <a:pPr>
              <a:lnSpc>
                <a:spcPct val="115000"/>
              </a:lnSpc>
              <a:defRPr sz="2300" b="0">
                <a:solidFill>
                  <a:srgbClr val="163A3B"/>
                </a:solidFill>
                <a:latin typeface="Microsoft YaHei"/>
              </a:defRPr>
            </a:pPr>
            <a:r>
              <a:t>消息在右上角呈现</a:t>
            </a:r>
          </a:p>
          <a:p>
            <a:pPr>
              <a:lnSpc>
                <a:spcPct val="115000"/>
              </a:lnSpc>
              <a:defRPr sz="2300" b="0">
                <a:solidFill>
                  <a:srgbClr val="163A3B"/>
                </a:solidFill>
                <a:latin typeface="Microsoft YaHei"/>
              </a:defRPr>
            </a:pPr>
            <a:r>
              <a:t>完整正文在气泡内滚动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97180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面向小屏陪伴场景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3886200"/>
            <a:ext cx="41148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100" b="0">
                <a:solidFill>
                  <a:srgbClr val="607474"/>
                </a:solidFill>
                <a:latin typeface="Microsoft YaHei"/>
              </a:defRPr>
            </a:pPr>
            <a:r>
              <a:t>横屏布局便于桌面观看</a:t>
            </a:r>
          </a:p>
          <a:p>
            <a:pPr>
              <a:lnSpc>
                <a:spcPct val="115000"/>
              </a:lnSpc>
              <a:defRPr sz="2100" b="0">
                <a:solidFill>
                  <a:srgbClr val="607474"/>
                </a:solidFill>
                <a:latin typeface="Microsoft YaHei"/>
              </a:defRPr>
            </a:pPr>
            <a:r>
              <a:t>沉浸界面突出宠物与消息</a:t>
            </a:r>
          </a:p>
          <a:p>
            <a:pPr>
              <a:lnSpc>
                <a:spcPct val="115000"/>
              </a:lnSpc>
              <a:defRPr sz="2100" b="0">
                <a:solidFill>
                  <a:srgbClr val="607474"/>
                </a:solidFill>
                <a:latin typeface="Microsoft YaHei"/>
              </a:defRPr>
            </a:pPr>
            <a:r>
              <a:t>前台亮屏保持陪伴感</a:t>
            </a:r>
          </a:p>
          <a:p>
            <a:pPr>
              <a:lnSpc>
                <a:spcPct val="115000"/>
              </a:lnSpc>
              <a:defRPr sz="2100" b="0">
                <a:solidFill>
                  <a:srgbClr val="607474"/>
                </a:solidFill>
                <a:latin typeface="Microsoft YaHei"/>
              </a:defRPr>
            </a:pPr>
            <a:r>
              <a:t>气泡内部滚动阅读长文</a:t>
            </a:r>
          </a:p>
          <a:p>
            <a:pPr>
              <a:lnSpc>
                <a:spcPct val="115000"/>
              </a:lnSpc>
              <a:defRPr sz="2100" b="0">
                <a:solidFill>
                  <a:srgbClr val="607474"/>
                </a:solidFill>
                <a:latin typeface="Microsoft YaHei"/>
              </a:defRPr>
            </a:pPr>
            <a:r>
              <a:t>触摸反馈与双击辅助交互</a:t>
            </a:r>
          </a:p>
          <a:p>
            <a:pPr>
              <a:lnSpc>
                <a:spcPct val="115000"/>
              </a:lnSpc>
              <a:defRPr sz="2100" b="0">
                <a:solidFill>
                  <a:srgbClr val="607474"/>
                </a:solidFill>
                <a:latin typeface="Microsoft YaHei"/>
              </a:defRPr>
            </a:pPr>
            <a:r>
              <a:t>动画表达当前情绪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08  实体桌宠概念：让软件拥有一个陪伴载体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设计概念展示：以 Android 横向屏幕作为头部，将信息互动融入桌面空间。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09</a:t>
            </a:r>
          </a:p>
        </p:txBody>
      </p:sp>
      <p:pic>
        <p:nvPicPr>
          <p:cNvPr id="8" name="Picture 7" descr="deskpet-physical-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32888"/>
            <a:ext cx="7223760" cy="4818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2834640"/>
            <a:ext cx="5669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000" b="1">
                <a:solidFill>
                  <a:srgbClr val="163A3B"/>
                </a:solidFill>
                <a:latin typeface="Microsoft YaHei"/>
              </a:defRPr>
            </a:pPr>
            <a:r>
              <a:t>把陪伴放在桌面上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886200"/>
            <a:ext cx="56692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200" b="0">
                <a:solidFill>
                  <a:srgbClr val="607474"/>
                </a:solidFill>
                <a:latin typeface="Microsoft YaHei"/>
              </a:defRPr>
            </a:pPr>
            <a:r>
              <a:t>横向屏幕承载宠物表情</a:t>
            </a:r>
          </a:p>
          <a:p>
            <a:pPr>
              <a:lnSpc>
                <a:spcPct val="115000"/>
              </a:lnSpc>
              <a:defRPr sz="2200" b="0">
                <a:solidFill>
                  <a:srgbClr val="607474"/>
                </a:solidFill>
                <a:latin typeface="Microsoft YaHei"/>
              </a:defRPr>
            </a:pPr>
            <a:r>
              <a:t>圆润机身营造亲近感</a:t>
            </a:r>
          </a:p>
          <a:p>
            <a:pPr>
              <a:lnSpc>
                <a:spcPct val="115000"/>
              </a:lnSpc>
              <a:defRPr sz="2200" b="0">
                <a:solidFill>
                  <a:srgbClr val="607474"/>
                </a:solidFill>
                <a:latin typeface="Microsoft YaHei"/>
              </a:defRPr>
            </a:pPr>
            <a:r>
              <a:t>消息气泡连接信息与情绪</a:t>
            </a:r>
          </a:p>
          <a:p>
            <a:pPr>
              <a:lnSpc>
                <a:spcPct val="115000"/>
              </a:lnSpc>
              <a:defRPr sz="2200" b="0">
                <a:solidFill>
                  <a:srgbClr val="607474"/>
                </a:solidFill>
                <a:latin typeface="Microsoft YaHei"/>
              </a:defRPr>
            </a:pPr>
            <a:r>
              <a:t>自然融入学习、办公与生活桌面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6729984"/>
            <a:ext cx="5669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600" b="0">
                <a:solidFill>
                  <a:srgbClr val="1F7771"/>
                </a:solidFill>
                <a:latin typeface="Microsoft YaHei"/>
              </a:defRPr>
            </a:pPr>
            <a:r>
              <a:t>形态设计概念图</a:t>
            </a:r>
          </a:p>
          <a:p>
            <a:pPr>
              <a:lnSpc>
                <a:spcPct val="115000"/>
              </a:lnSpc>
              <a:defRPr sz="1600" b="0">
                <a:solidFill>
                  <a:srgbClr val="1F7771"/>
                </a:solidFill>
                <a:latin typeface="Microsoft YaHei"/>
              </a:defRPr>
            </a:pPr>
            <a:r>
              <a:t>软件能力与外观设计相互呼应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09  六类设置，让陪伴适应不同用户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Windows 设置提供完整配置入口，将内容、节奏、表达与声音交给用户。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42976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788920"/>
            <a:ext cx="3886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常规策略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429000"/>
            <a:ext cx="3886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0">
                <a:solidFill>
                  <a:srgbClr val="607474"/>
                </a:solidFill>
                <a:latin typeface="Microsoft YaHei"/>
              </a:defRPr>
            </a:pPr>
            <a:r>
              <a:t>勿扰时段 / 播报间隔</a:t>
            </a:r>
          </a:p>
          <a:p>
            <a:pPr>
              <a:lnSpc>
                <a:spcPct val="115000"/>
              </a:lnSpc>
              <a:defRPr sz="2000" b="0">
                <a:solidFill>
                  <a:srgbClr val="607474"/>
                </a:solidFill>
                <a:latin typeface="Microsoft YaHei"/>
              </a:defRPr>
            </a:pPr>
            <a:r>
              <a:t>播报评分阈值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2606040"/>
            <a:ext cx="42976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85816" y="2788920"/>
            <a:ext cx="3886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宠物画像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85816" y="3429000"/>
            <a:ext cx="3886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0">
                <a:solidFill>
                  <a:srgbClr val="607474"/>
                </a:solidFill>
                <a:latin typeface="Microsoft YaHei"/>
              </a:defRPr>
            </a:pPr>
            <a:r>
              <a:t>名称 / 性格 / 表达偏好</a:t>
            </a:r>
          </a:p>
          <a:p>
            <a:pPr>
              <a:lnSpc>
                <a:spcPct val="115000"/>
              </a:lnSpc>
              <a:defRPr sz="2000" b="0">
                <a:solidFill>
                  <a:srgbClr val="607474"/>
                </a:solidFill>
                <a:latin typeface="Microsoft YaHei"/>
              </a:defRPr>
            </a:pPr>
            <a:r>
              <a:t>身份与背景设定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2606040"/>
            <a:ext cx="42976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03536" y="2788920"/>
            <a:ext cx="3886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模型服务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3536" y="3429000"/>
            <a:ext cx="3886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0">
                <a:solidFill>
                  <a:srgbClr val="607474"/>
                </a:solidFill>
                <a:latin typeface="Microsoft YaHei"/>
              </a:defRPr>
            </a:pPr>
            <a:r>
              <a:t>API 地址 / Key / 模型名称</a:t>
            </a:r>
          </a:p>
          <a:p>
            <a:pPr>
              <a:lnSpc>
                <a:spcPct val="115000"/>
              </a:lnSpc>
              <a:defRPr sz="2000" b="0">
                <a:solidFill>
                  <a:srgbClr val="607474"/>
                </a:solidFill>
                <a:latin typeface="Microsoft YaHei"/>
              </a:defRPr>
            </a:pPr>
            <a:r>
              <a:t>可选向量模型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46320"/>
            <a:ext cx="42976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5029200"/>
            <a:ext cx="3886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热点采集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5669280"/>
            <a:ext cx="3886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0">
                <a:solidFill>
                  <a:srgbClr val="607474"/>
                </a:solidFill>
                <a:latin typeface="Microsoft YaHei"/>
              </a:defRPr>
            </a:pPr>
            <a:r>
              <a:t>平台启用 / 独立采集周期</a:t>
            </a:r>
          </a:p>
          <a:p>
            <a:pPr>
              <a:lnSpc>
                <a:spcPct val="115000"/>
              </a:lnSpc>
              <a:defRPr sz="2000" b="0">
                <a:solidFill>
                  <a:srgbClr val="607474"/>
                </a:solidFill>
                <a:latin typeface="Microsoft YaHei"/>
              </a:defRPr>
            </a:pPr>
            <a:r>
              <a:t>默认采集周期 / 来源配置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0" y="4846320"/>
            <a:ext cx="42976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85816" y="5029200"/>
            <a:ext cx="3886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语音播报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5816" y="5669280"/>
            <a:ext cx="3886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0">
                <a:solidFill>
                  <a:srgbClr val="607474"/>
                </a:solidFill>
                <a:latin typeface="Microsoft YaHei"/>
              </a:defRPr>
            </a:pPr>
            <a:r>
              <a:t>语音开关 / 中文音色</a:t>
            </a:r>
          </a:p>
          <a:p>
            <a:pPr>
              <a:lnSpc>
                <a:spcPct val="115000"/>
              </a:lnSpc>
              <a:defRPr sz="2000" b="0">
                <a:solidFill>
                  <a:srgbClr val="607474"/>
                </a:solidFill>
                <a:latin typeface="Microsoft YaHei"/>
              </a:defRPr>
            </a:pPr>
            <a:r>
              <a:t>晓晓 / 云希 / 晓伊 / 云健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4846320"/>
            <a:ext cx="42976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03536" y="5029200"/>
            <a:ext cx="3886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用户画像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3536" y="5669280"/>
            <a:ext cx="3886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0">
                <a:solidFill>
                  <a:srgbClr val="607474"/>
                </a:solidFill>
                <a:latin typeface="Microsoft YaHei"/>
              </a:defRPr>
            </a:pPr>
            <a:r>
              <a:t>人物描述 / 兴趣主题</a:t>
            </a:r>
          </a:p>
          <a:p>
            <a:pPr>
              <a:lnSpc>
                <a:spcPct val="115000"/>
              </a:lnSpc>
              <a:defRPr sz="2000" b="0">
                <a:solidFill>
                  <a:srgbClr val="607474"/>
                </a:solidFill>
                <a:latin typeface="Microsoft YaHei"/>
              </a:defRPr>
            </a:pPr>
            <a:r>
              <a:t>兴趣权重可编辑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7360920"/>
            <a:ext cx="1325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1F7771"/>
                </a:solidFill>
                <a:latin typeface="Microsoft YaHei"/>
              </a:defRPr>
            </a:pPr>
            <a:r>
              <a:t>可视化配置 + 本地保存：同一套应用可以呈现不同的陪伴风格。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10  配置示例：同一只宠物，不同的陪伴节奏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以下为可配置项的场景示例，用户可以自行组合，并非固定预设。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4297680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学习场景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56432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安静而有选择地分享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38404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兴趣：人工智能 / 科技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间隔：大 · 60 分钟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阈值：更高，更挑选内容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人设：简洁、温和、重点明确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语音：按需开启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2743200"/>
            <a:ext cx="4297680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926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日常场景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456432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让新鲜事自然到来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114800"/>
            <a:ext cx="38404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兴趣：科技 / 游戏 / 生活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间隔：中 · 45 分钟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阈值：适度分享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人设：活泼、轻松、有好奇心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语音：晓晓 / 云希等可选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2743200"/>
            <a:ext cx="4297680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80" y="2926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专注时段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3456432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用户决定何时被打扰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4114800"/>
            <a:ext cx="38404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设置自己的勿扰时段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按平台调整采集周期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关闭或开启语音播报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调整兴趣主题与权重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通过反馈持续更新偏好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7040880"/>
            <a:ext cx="1316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1F7771"/>
                </a:solidFill>
                <a:latin typeface="Microsoft YaHei"/>
              </a:defRPr>
            </a:pPr>
            <a:r>
              <a:t>不是统一推送给所有人，而是围绕每个人的兴趣、节奏和表达偏好进行配置。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11  项目亮点：把信息服务做成主动陪伴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从内容获取到桌面表达，形成一套可运行、可配置、可持续反馈的产品闭环。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429768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主动性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56432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主动发现与分享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384048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主动搜索多平台热点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结合策略主动选择分享时机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气泡与 Windows 语音主动呈现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2743200"/>
            <a:ext cx="429768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926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个性化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456432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兴趣驱动的表达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114800"/>
            <a:ext cx="384048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兴趣画像参与内容筛选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宠物人设影响表达方式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反馈改变后续偏好权重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2743200"/>
            <a:ext cx="429768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80" y="2926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产品化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3456432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完整应用与交付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4114800"/>
            <a:ext cx="384048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桌宠、托盘、气泡与设置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Rust 共享核心与双平台界面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本地数据持久化与 Release 交付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85800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900" b="1">
                <a:solidFill>
                  <a:srgbClr val="1F7771"/>
                </a:solidFill>
                <a:latin typeface="Microsoft YaHei"/>
              </a:defRPr>
            </a:pPr>
            <a:r>
              <a:t>主动发现 + 个性筛选 + 宠物表达 + 语音陪伴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A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B8CFCA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B8CFCA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2618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4300" b="1">
                <a:solidFill>
                  <a:srgbClr val="FFFFFF"/>
                </a:solidFill>
                <a:latin typeface="Microsoft YaHei"/>
              </a:defRPr>
            </a:pPr>
            <a:r>
              <a:t>让信息有用，让陪伴有回应。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14300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700" b="0">
                <a:solidFill>
                  <a:srgbClr val="B8CFCA"/>
                </a:solidFill>
                <a:latin typeface="Microsoft YaHei"/>
              </a:defRPr>
            </a:pPr>
            <a:r>
              <a:t>DeskPet 主动搜索热点，筛选你关心的内容，</a:t>
            </a:r>
          </a:p>
          <a:p>
            <a:pPr>
              <a:lnSpc>
                <a:spcPct val="115000"/>
              </a:lnSpc>
              <a:defRPr sz="2700" b="0">
                <a:solidFill>
                  <a:srgbClr val="B8CFCA"/>
                </a:solidFill>
                <a:latin typeface="Microsoft YaHei"/>
              </a:defRPr>
            </a:pPr>
            <a:r>
              <a:t>再以宠物的表情、口吻和声音，主动与你分享。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57800"/>
            <a:ext cx="9144000" cy="960120"/>
          </a:xfrm>
          <a:prstGeom prst="roundRect">
            <a:avLst>
              <a:gd name="adj" fmla="val 12000"/>
            </a:avLst>
          </a:prstGeom>
          <a:solidFill>
            <a:srgbClr val="1F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495544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FFFFFF"/>
                </a:solidFill>
                <a:latin typeface="Microsoft YaHei"/>
              </a:defRPr>
            </a:pPr>
            <a:r>
              <a:t>让宠物主动关注世界，也主动关心你的兴趣。</a:t>
            </a:r>
          </a:p>
        </p:txBody>
      </p:sp>
      <p:pic>
        <p:nvPicPr>
          <p:cNvPr id="10" name="Picture 9" descr="happy.png"/>
          <p:cNvPicPr>
            <a:picLocks noChangeAspect="1"/>
          </p:cNvPicPr>
          <p:nvPr/>
        </p:nvPicPr>
        <p:blipFill>
          <a:blip r:embed="rId3"/>
          <a:srcRect r="87500"/>
          <a:stretch>
            <a:fillRect/>
          </a:stretch>
        </p:blipFill>
        <p:spPr>
          <a:xfrm>
            <a:off x="11247120" y="484632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DeskPet｜把信息变成陪伴</dc:title>
  <dc:subject>评比展示 · 主动热点搜索与播报 · 个性化陪伴 · 技术实现</dc:subject>
  <dc:creator>DeskPet</dc:creator>
  <cp:keywords>DeskPet,桌宠,Rust,Tauri,Android,Edge TTS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